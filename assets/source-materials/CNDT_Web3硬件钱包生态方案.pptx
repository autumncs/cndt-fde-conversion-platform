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08960" y="1188720"/>
            <a:ext cx="6035040" cy="6035040"/>
          </a:xfrm>
          <a:prstGeom prst="ellipse">
            <a:avLst/>
          </a:prstGeom>
          <a:solidFill>
            <a:srgbClr val="8B5CF6">
              <a:alpha val="13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389888"/>
            <a:ext cx="82296" cy="6583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43584" y="129844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CNDT · WEB3 HARDWARE WALLET ECOSYSTEM</a:t>
            </a:r>
            <a:endParaRPr sz="12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产品布局 · 代币激励 · 经销商合作方案</a:t>
            </a:r>
            <a:endParaRPr sz="210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529584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一份把「硬件安全」做成底层基础设施的落地蓝图 —— 从个人 U 盾到机构 KYC 终端，从链上资产托管到经销商分润网络。</a:t>
            </a:r>
            <a:endParaRPr sz="13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4498848"/>
            <a:ext cx="1395374" cy="457200"/>
          </a:xfrm>
          <a:prstGeom prst="roundRect">
            <a:avLst>
              <a:gd name="adj" fmla="val 2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4599432"/>
            <a:ext cx="139537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软硬件一体钱包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56662" y="4498848"/>
            <a:ext cx="1828800" cy="457200"/>
          </a:xfrm>
          <a:prstGeom prst="roundRect">
            <a:avLst>
              <a:gd name="adj" fmla="val 2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556662" y="45994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MPC + 物理加密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86630" y="4498848"/>
            <a:ext cx="2117750" cy="457200"/>
          </a:xfrm>
          <a:prstGeom prst="roundRect">
            <a:avLst>
              <a:gd name="adj" fmla="val 2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86630" y="4599432"/>
            <a:ext cx="21177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生态手续费 50% 分成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2026 年 9 月 18 日  ·  内部沟通材料（含录音要点整理）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汇报纲要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AGENDA · 五个模块，一条从产品到渠道再到合规的主线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83664"/>
            <a:ext cx="11073384" cy="786384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7088" y="201168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产品核心功能与生态布局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资产安全方案 / 支付验证 / 生态矩阵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2148840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P03 - P08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2761488"/>
            <a:ext cx="11073384" cy="786384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2916936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7088" y="2889504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代币激励与公测政策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公测配额 / 获取流程 / 持有收益 / 风控原则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3026664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P09 - P11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3639312"/>
            <a:ext cx="11073384" cy="786384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37947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47088" y="3767328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经销商合作机制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准入门槛 / 价格体系 / 收益测算 / 配额分配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0" y="3904487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P12 - P14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4517136"/>
            <a:ext cx="11073384" cy="786384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4672583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47088" y="4645151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合规与运营安排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主体架构 / 签约地 / 市场策略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92640" y="478231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P15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394959"/>
            <a:ext cx="11073384" cy="786384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5550407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47088" y="5522975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落地路线与下一步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阶段路线图 / 行动清单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92640" y="5660136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P16 - P17</a:t>
            </a:r>
            <a:endParaRPr sz="11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产品核心功能：资产安全方案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PRODUCT SECURITY · 让私钥永不暴露，让每笔转出都必须由人确认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2139696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600" b="1" i="0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6700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助记词拆分存储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一半存储于用户手机端，一半存储于离线红魔优盾硬件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无用户主动蓝牙授权，资产无法转出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从架构上规避外部盗币风险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36008" y="2139696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600" b="1" i="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36008" y="26700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支付验证机制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6008" y="3163824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每笔支付需通过优盾扫码完成蓝牙连接验证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确认后才可完成资产转出操作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全程核心信息不触网，断网也可完成签名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19871" y="1828800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119871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0" y="2139696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600" b="1" i="0">
              <a:solidFill>
                <a:srgbClr val="F5C1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12480" y="267004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多层物理加密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12480" y="3163824"/>
            <a:ext cx="299923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虹膜识别 + 硬件级加密单元的多层防护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面向机构级资产管理的合规托管形态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硬件终端与链上账户一一绑定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4956048"/>
            <a:ext cx="11073384" cy="1170432"/>
          </a:xfrm>
          <a:prstGeom prst="roundRect">
            <a:avLst>
              <a:gd name="adj" fmla="val 9000"/>
            </a:avLst>
          </a:prstGeom>
          <a:solidFill>
            <a:srgbClr val="110722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138928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核心结论</a:t>
            </a:r>
            <a:endParaRPr sz="12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安全意识被前置到硬件层：用户不接触助记词、签名与转出动作必须经过独立硬件确认，从而使资产安全不依赖于用户的软件环境是否安全。</a:t>
            </a:r>
            <a:endParaRPr sz="12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CNDT KYC 系统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机构级开户与资产管理终端 · 激活用户钱包的 DeFi 金融设备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60120" y="1773936"/>
            <a:ext cx="2962656" cy="4443984"/>
          </a:xfrm>
          <a:prstGeom prst="roundRect">
            <a:avLst>
              <a:gd name="adj" fmla="val 6000"/>
            </a:avLst>
          </a:prstGeom>
          <a:solidFill>
            <a:srgbClr val="1E1038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ky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47088"/>
            <a:ext cx="2782086" cy="4297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5968" y="17922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125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968" y="2121408"/>
            <a:ext cx="7223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面向经销商与机构用户的「开户 + 资产管理」一体化硬件终端，既是用户激活钱包的入口，也是链上资产的物理保险柜。</a:t>
            </a:r>
            <a:endParaRPr sz="12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15968" y="2871216"/>
            <a:ext cx="7306056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3712" y="30540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核心特性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97296" y="3017520"/>
            <a:ext cx="5623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时尚便携、智能安全；支持快速生成 U 盾激活码；多层物理加密，助力机构级资产管理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15968" y="3557016"/>
            <a:ext cx="7306056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53712" y="3739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业务角色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97296" y="3703320"/>
            <a:ext cx="5623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经销商开户盒子：缴纳保证金后获取，用于为终端用户开户并激活钱包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15968" y="4242816"/>
            <a:ext cx="7306056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53712" y="44256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升级计划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7296" y="4389120"/>
            <a:ext cx="5623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明年年初升级 2.0 版本，新增支持影视公链挖矿能力，盒子价值随之提升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5968" y="4928616"/>
            <a:ext cx="7306056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53712" y="51114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价值主张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97296" y="5074920"/>
            <a:ext cx="5623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让合作方成为 CNDT 虹膜加密钱包市场的开拓者，抢占稀缺的渠道入口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15968" y="5614416"/>
            <a:ext cx="7306056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53712" y="57972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交付形态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797296" y="5760720"/>
            <a:ext cx="5623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硬件终端 + 配套开户系统 + 激活码体系（与 U 盾配套使用）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CNDT U盾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个人级安全守护 · 小巧便携的链上签名钥匙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1792224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125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个人用户的随身安全密钥：把签名权从手机软件里剥离出来，交由一枚独立的、带虹膜识别的硬件设备保管。</a:t>
            </a:r>
            <a:endParaRPr sz="12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2871216"/>
            <a:ext cx="7315200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30540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核心特性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48256" y="301752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小巧便携，支持快速连接区块链钱包；一键签名，操作便捷，适合个人用户日常使用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6"/>
            <a:ext cx="7315200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39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技术保障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48256" y="370332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MPC 技术保障，避免助记词泄露；助记词一半存于手机端，一半存于离线优盾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4242816"/>
            <a:ext cx="7315200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4672" y="44256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48256" y="438912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无用户主动蓝牙授权无法转出资产，规避外部盗币风险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4928616"/>
            <a:ext cx="7315200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4672" y="51114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支付验证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48256" y="507492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每笔支付需优盾扫码完成蓝牙连接验证，确认后方可完成资产转出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5614416"/>
            <a:ext cx="7315200" cy="612648"/>
          </a:xfrm>
          <a:prstGeom prst="roundRect">
            <a:avLst>
              <a:gd name="adj" fmla="val 14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4672" y="57972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用户体验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48256" y="5760720"/>
            <a:ext cx="5650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解锁区块链个人账号安全秘籍：不记助记词、不暴露私钥，也能安全签名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275320" y="1773936"/>
            <a:ext cx="2980944" cy="4443984"/>
          </a:xfrm>
          <a:prstGeom prst="roundRect">
            <a:avLst>
              <a:gd name="adj" fmla="val 6000"/>
            </a:avLst>
          </a:prstGeom>
          <a:solidFill>
            <a:srgbClr val="1E1038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9" name="Picture 28" descr="ushiel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847088"/>
            <a:ext cx="280432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产品矩阵：两条产品线，覆盖个人与机构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PRODUCT MATRIX · 个人 U 盾负责签名入口，KYC 盒子负责开户与机构托管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847088"/>
          <a:ext cx="11073384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4297680"/>
                <a:gridCol w="4992624"/>
              </a:tblGrid>
              <a:tr h="5029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对比维度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5B3E9C"/>
                      </a:solidFill>
                      <a:prstDash val="solid"/>
                    </a:lnL>
                    <a:lnR w="9525" cap="flat" cmpd="sng" algn="ctr">
                      <a:solidFill>
                        <a:srgbClr val="5B3E9C"/>
                      </a:solidFill>
                      <a:prstDash val="solid"/>
                    </a:lnR>
                    <a:lnT w="9525" cap="flat" cmpd="sng" algn="ctr">
                      <a:solidFill>
                        <a:srgbClr val="5B3E9C"/>
                      </a:solidFill>
                      <a:prstDash val="solid"/>
                    </a:lnT>
                    <a:lnB w="9525" cap="flat" cmpd="sng" algn="ctr">
                      <a:solidFill>
                        <a:srgbClr val="5B3E9C"/>
                      </a:solidFill>
                      <a:prstDash val="solid"/>
                    </a:lnB>
                    <a:solidFill>
                      <a:srgbClr val="2E16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CNDT U盾（个人级）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5B3E9C"/>
                      </a:solidFill>
                      <a:prstDash val="solid"/>
                    </a:lnL>
                    <a:lnR w="9525" cap="flat" cmpd="sng" algn="ctr">
                      <a:solidFill>
                        <a:srgbClr val="5B3E9C"/>
                      </a:solidFill>
                      <a:prstDash val="solid"/>
                    </a:lnR>
                    <a:lnT w="9525" cap="flat" cmpd="sng" algn="ctr">
                      <a:solidFill>
                        <a:srgbClr val="5B3E9C"/>
                      </a:solidFill>
                      <a:prstDash val="solid"/>
                    </a:lnT>
                    <a:lnB w="9525" cap="flat" cmpd="sng" algn="ctr">
                      <a:solidFill>
                        <a:srgbClr val="5B3E9C"/>
                      </a:solidFill>
                      <a:prstDash val="solid"/>
                    </a:lnB>
                    <a:solidFill>
                      <a:srgbClr val="2E16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CNDT KYC 系统（机构级 / 经销商盒子）</a:t>
                      </a:r>
                      <a:endParaRPr sz="12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5B3E9C"/>
                      </a:solidFill>
                      <a:prstDash val="solid"/>
                    </a:lnL>
                    <a:lnR w="9525" cap="flat" cmpd="sng" algn="ctr">
                      <a:solidFill>
                        <a:srgbClr val="5B3E9C"/>
                      </a:solidFill>
                      <a:prstDash val="solid"/>
                    </a:lnR>
                    <a:lnT w="9525" cap="flat" cmpd="sng" algn="ctr">
                      <a:solidFill>
                        <a:srgbClr val="5B3E9C"/>
                      </a:solidFill>
                      <a:prstDash val="solid"/>
                    </a:lnT>
                    <a:lnB w="9525" cap="flat" cmpd="sng" algn="ctr">
                      <a:solidFill>
                        <a:srgbClr val="5B3E9C"/>
                      </a:solidFill>
                      <a:prstDash val="solid"/>
                    </a:lnB>
                    <a:solidFill>
                      <a:srgbClr val="2E165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目标用户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个人用户、链上日常支付与资产管理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经销商、机构用户、需要批量开户的合作方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产品定位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个人级安全守护，随身签名钥匙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激活用户钱包的 DeFi 金融设备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核心安全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MPC 技术保障，助记词拆分存储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多层物理加密，虹膜识别 + 硬件加密单元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关键功能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小巧便携、一键签名、快速连接钱包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快速生成 U 盾激活码、机构级资产管理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获取方式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随硬件产品销售 / 与钱包配套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经销商缴纳 2,000 U 可退保证金获取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50A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D3B4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渠道价值</a:t>
                      </a:r>
                      <a:endParaRPr sz="1150" b="1" i="0">
                        <a:solidFill>
                          <a:srgbClr val="D3B4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面向 C 端日常使用，复购与生态入口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0" i="0">
                          <a:solidFill>
                            <a:srgbClr val="E6E1F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面向 B 端渠道分润，配额稀缺、定向分配</a:t>
                      </a:r>
                      <a:endParaRPr sz="1150" b="0" i="0">
                        <a:solidFill>
                          <a:srgbClr val="E6E1F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33245C"/>
                      </a:solidFill>
                      <a:prstDash val="solid"/>
                    </a:lnL>
                    <a:lnR w="9525" cap="flat" cmpd="sng" algn="ctr">
                      <a:solidFill>
                        <a:srgbClr val="33245C"/>
                      </a:solidFill>
                      <a:prstDash val="solid"/>
                    </a:lnR>
                    <a:lnT w="9525" cap="flat" cmpd="sng" algn="ctr">
                      <a:solidFill>
                        <a:srgbClr val="33245C"/>
                      </a:solidFill>
                      <a:prstDash val="solid"/>
                    </a:lnT>
                    <a:lnB w="9525" cap="flat" cmpd="sng" algn="ctr">
                      <a:solidFill>
                        <a:srgbClr val="33245C"/>
                      </a:solidFill>
                      <a:prstDash val="solid"/>
                    </a:lnB>
                    <a:solidFill>
                      <a:srgbClr val="1B0F3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108192"/>
            <a:ext cx="11073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注：价格、保证金与配额以正式签约文件为准；公测阶段配额定向分配。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多元生态矩阵：六大赛道承接链上资产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ECOSYSTEM · 硬件只是入口，真正的价值来自生态业务持续产生的手续费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59536" y="21031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25877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贸易担保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99008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为跨境贸易提供链上担保与履约保障，把信用搬到链上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636008" y="21031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36008" y="25877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贸信通结算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6008" y="299008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贸易信用链路通，提升跨境结算效率与资金周转速度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19871" y="182880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412480" y="21031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0" y="25877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海外汇兑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299008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支持多币种的海外汇兑通道，覆盖跨境资金往来场景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393192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59536" y="42062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9536" y="46908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DeFi 质押借贷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536" y="509320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链上质押与借贷，让持有的资产不闲置、可生息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00" y="393192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636008" y="42062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36008" y="46908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预测服务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36008" y="509320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事件预测与衍生服务，为生态提供高频交互场景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19871" y="3931920"/>
            <a:ext cx="3529584" cy="1956816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412480" y="42062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973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12480" y="46908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合规支付卡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12480" y="5093208"/>
            <a:ext cx="29626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后续上线合规 VISA / Master 卡，手续费千分之五，低于行业平均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5943600"/>
            <a:ext cx="11073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生态价值：硬件建立用户与信任，生态业务提供持续现金流，二者共同支撑代币的长期使用场景。</a:t>
            </a:r>
            <a:endParaRPr sz="110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手续费分配机制：50% 全额分给合作商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REVENUE SHARING · 生态业务产生的手续费，一半直接归属合作商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生态业务手续费收入</a:t>
            </a:r>
            <a:endParaRPr sz="13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2788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贸易担保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贸信通结算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海外汇兑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DeFi 质押借贷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预测服务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114800" y="3520440"/>
            <a:ext cx="1234440" cy="566928"/>
          </a:xfrm>
          <a:prstGeom prst="rightArrow">
            <a:avLst/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975104"/>
            <a:ext cx="3044952" cy="3566160"/>
          </a:xfrm>
          <a:prstGeom prst="roundRect">
            <a:avLst>
              <a:gd name="adj" fmla="val 8000"/>
            </a:avLst>
          </a:prstGeom>
          <a:solidFill>
            <a:srgbClr val="1E1038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23560" y="1975104"/>
            <a:ext cx="3044952" cy="6858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3317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合作商分成</a:t>
            </a:r>
            <a:endParaRPr sz="13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25312" y="2743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endParaRPr sz="4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25312" y="3611880"/>
            <a:ext cx="2514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按实际产生的手续费结算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全额分给合作商，平台不加留存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与硬件销售利润相互独立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生态规模越大，分成越可观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42832" y="1975104"/>
            <a:ext cx="2697480" cy="35661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17152" y="23317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分配原则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7152" y="2788920"/>
            <a:ext cx="21945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先合规、后分润：业务先在合规主体内结算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透明可查：手续费按链上流水口径计算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不设固定返息：避免形成资金盘结构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长期主义：优先保障生态可持续运营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代币激励与公测政策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TOKEN INCENTIVE · 首批公测仅 1,000 台，只面向签约经销商定向分配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3529584" cy="1298448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2066543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1,000</a:t>
            </a:r>
            <a:r>
              <a:rPr sz="13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台</a:t>
            </a:r>
            <a:endParaRPr sz="13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2688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首批公测份额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529584" cy="1298448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36008" y="2066543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定向</a:t>
            </a:r>
            <a:r>
              <a:rPr sz="13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分配</a:t>
            </a:r>
            <a:endParaRPr sz="13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36008" y="2688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仅面向签约经销商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19871" y="1828800"/>
            <a:ext cx="3529584" cy="1298448"/>
          </a:xfrm>
          <a:prstGeom prst="roundRect">
            <a:avLst>
              <a:gd name="adj" fmla="val 12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80" y="2066543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稀缺</a:t>
            </a:r>
            <a:r>
              <a:rPr sz="13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溢价</a:t>
            </a:r>
            <a:endParaRPr sz="13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68833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已有溢价转让意向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110733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代币获取与公测流程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Pentagon 20"/>
          <p:cNvSpPr/>
          <p:nvPr/>
        </p:nvSpPr>
        <p:spPr>
          <a:xfrm>
            <a:off x="566928" y="3785615"/>
            <a:ext cx="2212848" cy="1060704"/>
          </a:xfrm>
          <a:prstGeom prst="homePlate">
            <a:avLst/>
          </a:prstGeom>
          <a:gradFill rotWithShape="1">
            <a:gsLst>
              <a:gs pos="0">
                <a:srgbClr val="2A1550">
                  <a:alpha val="100000"/>
                </a:srgbClr>
              </a:gs>
              <a:gs pos="100000">
                <a:srgbClr val="441F7A">
                  <a:alpha val="100000"/>
                </a:srgbClr>
              </a:gs>
            </a:gsLst>
            <a:lin ang="0" scaled="0"/>
          </a:gradFill>
          <a:ln w="9525">
            <a:solidFill>
              <a:srgbClr val="5B3E9C"/>
            </a:solidFill>
          </a:ln>
          <a:effectLst/>
        </p:spPr>
        <p:txBody>
          <a:bodyPr wrap="square" lIns="274320" tIns="0" bIns="0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经销商签约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缴纳保证金获取开户盒子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2830068" y="3785615"/>
            <a:ext cx="2212848" cy="1060704"/>
          </a:xfrm>
          <a:prstGeom prst="chevron">
            <a:avLst/>
          </a:prstGeom>
          <a:gradFill rotWithShape="1">
            <a:gsLst>
              <a:gs pos="0">
                <a:srgbClr val="2A1550">
                  <a:alpha val="100000"/>
                </a:srgbClr>
              </a:gs>
              <a:gs pos="100000">
                <a:srgbClr val="441F7A">
                  <a:alpha val="100000"/>
                </a:srgbClr>
              </a:gs>
            </a:gsLst>
            <a:lin ang="0" scaled="0"/>
          </a:gradFill>
          <a:ln w="9525">
            <a:solidFill>
              <a:srgbClr val="5B3E9C"/>
            </a:solidFill>
          </a:ln>
          <a:effectLst/>
        </p:spPr>
        <p:txBody>
          <a:bodyPr wrap="square" lIns="274320" tIns="0" bIns="0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配额分配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按团队资源申请公测台数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5093208" y="3785615"/>
            <a:ext cx="2212848" cy="1060704"/>
          </a:xfrm>
          <a:prstGeom prst="chevron">
            <a:avLst/>
          </a:prstGeom>
          <a:gradFill rotWithShape="1">
            <a:gsLst>
              <a:gs pos="0">
                <a:srgbClr val="2A1550">
                  <a:alpha val="100000"/>
                </a:srgbClr>
              </a:gs>
              <a:gs pos="100000">
                <a:srgbClr val="441F7A">
                  <a:alpha val="100000"/>
                </a:srgbClr>
              </a:gs>
            </a:gsLst>
            <a:lin ang="0" scaled="0"/>
          </a:gradFill>
          <a:ln w="9525">
            <a:solidFill>
              <a:srgbClr val="5B3E9C"/>
            </a:solidFill>
          </a:ln>
          <a:effectLst/>
        </p:spPr>
        <p:txBody>
          <a:bodyPr wrap="square" lIns="274320" tIns="0" bIns="0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用户开卡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KYC 盒子激活用户钱包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7356348" y="3785615"/>
            <a:ext cx="2212848" cy="1060704"/>
          </a:xfrm>
          <a:prstGeom prst="chevron">
            <a:avLst/>
          </a:prstGeom>
          <a:gradFill rotWithShape="1">
            <a:gsLst>
              <a:gs pos="0">
                <a:srgbClr val="2A1550">
                  <a:alpha val="100000"/>
                </a:srgbClr>
              </a:gs>
              <a:gs pos="100000">
                <a:srgbClr val="441F7A">
                  <a:alpha val="100000"/>
                </a:srgbClr>
              </a:gs>
            </a:gsLst>
            <a:lin ang="0" scaled="0"/>
          </a:gradFill>
          <a:ln w="9525">
            <a:solidFill>
              <a:srgbClr val="5B3E9C"/>
            </a:solidFill>
          </a:ln>
          <a:effectLst/>
        </p:spPr>
        <p:txBody>
          <a:bodyPr wrap="square" lIns="274320" tIns="0" bIns="0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空投到账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空投按对应比例发放代币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Chevron 24"/>
          <p:cNvSpPr/>
          <p:nvPr/>
        </p:nvSpPr>
        <p:spPr>
          <a:xfrm>
            <a:off x="9619488" y="3785615"/>
            <a:ext cx="2212848" cy="1060704"/>
          </a:xfrm>
          <a:prstGeom prst="chevron">
            <a:avLst/>
          </a:prstGeom>
          <a:gradFill rotWithShape="1">
            <a:gsLst>
              <a:gs pos="0">
                <a:srgbClr val="2A1550">
                  <a:alpha val="100000"/>
                </a:srgbClr>
              </a:gs>
              <a:gs pos="100000">
                <a:srgbClr val="441F7A">
                  <a:alpha val="100000"/>
                </a:srgbClr>
              </a:gs>
            </a:gsLst>
            <a:lin ang="0" scaled="0"/>
          </a:gradFill>
          <a:ln w="9525">
            <a:solidFill>
              <a:srgbClr val="5B3E9C"/>
            </a:solidFill>
          </a:ln>
          <a:effectLst/>
        </p:spPr>
        <p:txBody>
          <a:bodyPr wrap="square" lIns="274320" tIns="0" bIns="0" rtlCol="0" anchor="ctr"/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0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自主选择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到账后即可卖出或继续持有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5138928"/>
            <a:ext cx="11073384" cy="987552"/>
          </a:xfrm>
          <a:prstGeom prst="roundRect">
            <a:avLst>
              <a:gd name="adj" fmla="val 10000"/>
            </a:avLst>
          </a:prstGeom>
          <a:solidFill>
            <a:srgbClr val="110722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321808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公测政策要点：</a:t>
            </a:r>
            <a:r>
              <a:rPr sz="12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产品上市初期仅开放 1,000 台公测用户份额；当前市场需求紧缺，已有溢价转让意向；经销商单店基础配额 1,000 台，可按团队资源能力申请调整。</a:t>
            </a:r>
            <a:endParaRPr sz="12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代币持有与收益规则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HOLDING &amp; YIELD · 质押 6 个月、额外 30%-40% 理财收益，5 年以上的长期价值规划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2651760" cy="1517904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12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个月</a:t>
            </a:r>
            <a:endParaRPr sz="12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用户质押周期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64992" y="1828800"/>
            <a:ext cx="2651760" cy="1517904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64992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21024" y="21031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30%–40%</a:t>
            </a:r>
            <a:r>
              <a:rPr sz="12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sz="12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1024" y="2816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质押期间额外理财收益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2651760" cy="1517904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63056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9088" y="21031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12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年以上</a:t>
            </a:r>
            <a:endParaRPr sz="12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816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代币整体规划周期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651760" cy="1517904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17152" y="21031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80 万+</a:t>
            </a:r>
            <a:r>
              <a:rPr sz="1200" b="1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  美金</a:t>
            </a:r>
            <a:endParaRPr sz="1200" b="1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17152" y="2816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未启动市场已有代币储备</a:t>
            </a:r>
            <a:endParaRPr sz="110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3584448"/>
            <a:ext cx="5376672" cy="2542032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38039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持有规则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4242816"/>
            <a:ext cx="48463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空投所得代币到账后，可即时选择卖出或继续持有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用户质押代币周期为 6 个月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质押期间可获得 30%–40% 的额外理财收益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质押收益来源为生态业务现金流，而非固定返息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63640" y="3584448"/>
            <a:ext cx="5376672" cy="2542032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65392" y="38039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长期价值规划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4242816"/>
            <a:ext cx="48463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代币整体规划周期为 5 年以上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后续将对接交易所，提升流动性与可及性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通过用户共识与生态使用场景拉动长期价值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当前未启动市场已有 80 多万美金代币储备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风险规避安排：守住合规底线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RISK CONTROL · 平台不设置固定返息规则，从结构上避免触碰资金盘风险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F9736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9536" y="21945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不设固定返息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2688336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平台不承诺固定收益、不设置固定返息规则，收益与生态业务实际现金流挂钩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36008" y="21945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不做资金池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36008" y="2688336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资金不归集形成资金池，避免触碰资金盘结构与监管红线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19871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19871" y="1828800"/>
            <a:ext cx="3529584" cy="6858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优先长期运营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12480" y="2688336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以保障项目长期稳定运营为第一原则，而非短期规模扩张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3931920"/>
            <a:ext cx="11073384" cy="2194560"/>
          </a:xfrm>
          <a:prstGeom prst="roundRect">
            <a:avLst>
              <a:gd name="adj" fmla="val 8000"/>
            </a:avLst>
          </a:prstGeom>
          <a:solidFill>
            <a:srgbClr val="110722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415137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配套合规动作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608576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业务正式签约统一在中国香港完成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主体与办事处按所在地法规要求合规设置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手续费与分成按链上流水透明结算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09360" y="4608576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国内不公开提及代币相关内容，仅小范围开展业务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优先筛选有社区资源、Web3 行业经验的合作方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面向合作方与用户明确披露风险，不承诺保本收益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经销商准入门槛与价格体系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DEALER PROGRAM · 2,000 U 可退保证金换开户盒子，单台硬件纯利润约 80 美金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2651760" cy="1572768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139696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2,000 U</a:t>
            </a:r>
            <a:endParaRPr sz="27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可退保证金 · 获取开户盒子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64992" y="1828800"/>
            <a:ext cx="2651760" cy="1572768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64992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21024" y="2139696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219</a:t>
            </a:r>
            <a:endParaRPr sz="2700" b="1" i="0">
              <a:solidFill>
                <a:srgbClr val="35DD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1024" y="28163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美金 / 台 · 硬件供货价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2651760" cy="1572768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63056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9088" y="2139696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299</a:t>
            </a:r>
            <a:endParaRPr sz="2700" b="1" i="0">
              <a:solidFill>
                <a:srgbClr val="F5C1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8163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美金 / 台 · 终端建议售价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651760" cy="1572768"/>
          </a:xfrm>
          <a:prstGeom prst="roundRect">
            <a:avLst>
              <a:gd name="adj" fmla="val 11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2651760" cy="5943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17152" y="2139696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≈80</a:t>
            </a:r>
            <a:endParaRPr sz="2700" b="1" i="0">
              <a:solidFill>
                <a:srgbClr val="3DD6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17152" y="281635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美金 / 台 · 单台纯利润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3639312"/>
            <a:ext cx="6720840" cy="2487168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68680" y="384048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价格与利润结构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430682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硬件供货价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12848" y="4334255"/>
            <a:ext cx="4096512" cy="219456"/>
          </a:xfrm>
          <a:prstGeom prst="roundRect">
            <a:avLst>
              <a:gd name="adj" fmla="val 50000"/>
            </a:avLst>
          </a:prstGeom>
          <a:solidFill>
            <a:srgbClr val="1E123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212848" y="4334255"/>
            <a:ext cx="3000455" cy="219456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19088" y="430682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219 美金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8680" y="48554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单台纯利润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212848" y="4882895"/>
            <a:ext cx="4096512" cy="219456"/>
          </a:xfrm>
          <a:prstGeom prst="roundRect">
            <a:avLst>
              <a:gd name="adj" fmla="val 50000"/>
            </a:avLst>
          </a:prstGeom>
          <a:solidFill>
            <a:srgbClr val="1E123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212848" y="4882895"/>
            <a:ext cx="1096056" cy="219456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4855464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≈ 80 美金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8680" y="540410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终端建议售价</a:t>
            </a:r>
            <a:endParaRPr sz="10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212848" y="5431535"/>
            <a:ext cx="4096512" cy="219456"/>
          </a:xfrm>
          <a:prstGeom prst="roundRect">
            <a:avLst>
              <a:gd name="adj" fmla="val 50000"/>
            </a:avLst>
          </a:prstGeom>
          <a:solidFill>
            <a:srgbClr val="1E123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212848" y="5431535"/>
            <a:ext cx="4096512" cy="21945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19088" y="5404103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299 美金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" y="570585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毛利率 ≈ 80 / 299 ≈ 26.8%（不含对赌奖励与生态手续费分成）</a:t>
            </a:r>
            <a:endParaRPr sz="1050" b="0" i="0">
              <a:solidFill>
                <a:srgbClr val="F5C1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516368" y="3639312"/>
            <a:ext cx="4123944" cy="2487168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90688" y="3840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合作权益说明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90688" y="4261104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开户盒子明年年初可升级为支持影视公链挖矿的 2.0 版本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退出合作时可全额退还保证金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完成约定销量可获得额外对赌奖励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08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8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保证金可退，降低合作方的资金占用风险</a:t>
            </a:r>
            <a:endParaRPr sz="108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经销商单店收益测算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REVENUE MODEL · 按单台纯利润约 80 美金、基础配额 1,000 台测算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34440" y="4283964"/>
            <a:ext cx="9966960" cy="10972"/>
          </a:xfrm>
          <a:prstGeom prst="rect">
            <a:avLst/>
          </a:prstGeom>
          <a:solidFill>
            <a:srgbClr val="2A1D4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4146803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20k</a:t>
            </a:r>
            <a:endParaRPr sz="9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34440" y="3685031"/>
            <a:ext cx="9966960" cy="10972"/>
          </a:xfrm>
          <a:prstGeom prst="rect">
            <a:avLst/>
          </a:prstGeom>
          <a:solidFill>
            <a:srgbClr val="2A1D4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3547871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40k</a:t>
            </a:r>
            <a:endParaRPr sz="9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34440" y="3086100"/>
            <a:ext cx="9966960" cy="10972"/>
          </a:xfrm>
          <a:prstGeom prst="rect">
            <a:avLst/>
          </a:prstGeom>
          <a:solidFill>
            <a:srgbClr val="2A1D4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294894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60k</a:t>
            </a:r>
            <a:endParaRPr sz="9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34440" y="2487168"/>
            <a:ext cx="9966960" cy="10972"/>
          </a:xfrm>
          <a:prstGeom prst="rect">
            <a:avLst/>
          </a:prstGeom>
          <a:solidFill>
            <a:srgbClr val="2A1D4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235000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80k</a:t>
            </a:r>
            <a:endParaRPr sz="9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34440" y="4882896"/>
            <a:ext cx="9966960" cy="12801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148840" y="4164177"/>
            <a:ext cx="1600200" cy="718718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965960" y="3761841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$24,000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65960" y="501091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300 台</a:t>
            </a:r>
            <a:endParaRPr sz="13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65960" y="532180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保守情景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94960" y="3685031"/>
            <a:ext cx="1600200" cy="1197864"/>
          </a:xfrm>
          <a:prstGeom prst="roundRect">
            <a:avLst>
              <a:gd name="adj" fmla="val 6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12080" y="3282695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$40,000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2080" y="501091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500 台</a:t>
            </a:r>
            <a:endParaRPr sz="13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80" y="532180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中性情景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41080" y="2487168"/>
            <a:ext cx="1600200" cy="2395728"/>
          </a:xfrm>
          <a:prstGeom prst="roundRect">
            <a:avLst>
              <a:gd name="adj" fmla="val 6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58200" y="2084831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$80,000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200" y="5010912"/>
            <a:ext cx="1965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1,000 台</a:t>
            </a:r>
            <a:endParaRPr sz="13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58200" y="532180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满配额情景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5888736"/>
            <a:ext cx="1107338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测算口径：终端售价 299 美金 − 供货价 219 美金 = 单台纯利润约 80 美金；上表为硬件销售毛利润，未计入对赌奖励、生态手续费 50% 分成与代币相关权益。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合作权益与配额分配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ALLOCATION · 当前仅开放 50 个经销商名额，单店基础配额 1,000 台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5376672" cy="2121408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0848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名额与配额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sz="1300" b="1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  个经销商名额（本轮）</a:t>
            </a:r>
            <a:endParaRPr sz="1300" b="1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182112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1,000</a:t>
            </a:r>
            <a:r>
              <a:rPr sz="1300" b="1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  台 / 单店基础配额</a:t>
            </a:r>
            <a:endParaRPr sz="1300" b="1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376672" cy="2121408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65392" y="20848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配额申请与调整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2523744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基础配额 1,000 台，签约即锁定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可根据团队资源能力申请上调配额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优先满足有社区资源、Web3 行业经验的合作方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公测份额总量有限，按签约先后与资源评估分配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8"/>
            <a:ext cx="110733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经销商合作全流程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" y="4626864"/>
            <a:ext cx="2176272" cy="1060704"/>
          </a:xfrm>
          <a:prstGeom prst="roundRect">
            <a:avLst>
              <a:gd name="adj" fmla="val 12000"/>
            </a:avLst>
          </a:prstGeom>
          <a:solidFill>
            <a:srgbClr val="1E1038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4773168"/>
            <a:ext cx="1773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① 资质沟通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确认社区资源与 Web3 经验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84932" y="4626864"/>
            <a:ext cx="2176272" cy="1060704"/>
          </a:xfrm>
          <a:prstGeom prst="roundRect">
            <a:avLst>
              <a:gd name="adj" fmla="val 12000"/>
            </a:avLst>
          </a:prstGeom>
          <a:solidFill>
            <a:srgbClr val="1E1038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86100" y="4773168"/>
            <a:ext cx="1773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② 缴纳保证金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2,000 U 可退，获取开户盒子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202936" y="4626864"/>
            <a:ext cx="2176272" cy="1060704"/>
          </a:xfrm>
          <a:prstGeom prst="roundRect">
            <a:avLst>
              <a:gd name="adj" fmla="val 12000"/>
            </a:avLst>
          </a:prstGeom>
          <a:solidFill>
            <a:srgbClr val="1E1038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04103" y="4773168"/>
            <a:ext cx="1773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③ 签约锁配额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基础 1,000 台，可申请调整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20940" y="4626864"/>
            <a:ext cx="2176272" cy="1060704"/>
          </a:xfrm>
          <a:prstGeom prst="roundRect">
            <a:avLst>
              <a:gd name="adj" fmla="val 12000"/>
            </a:avLst>
          </a:prstGeom>
          <a:solidFill>
            <a:srgbClr val="1E1038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22108" y="4773168"/>
            <a:ext cx="1773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④ 铺货与开户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为终端用户开户并激活钱包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838944" y="4626864"/>
            <a:ext cx="2176272" cy="1060704"/>
          </a:xfrm>
          <a:prstGeom prst="roundRect">
            <a:avLst>
              <a:gd name="adj" fmla="val 12000"/>
            </a:avLst>
          </a:prstGeom>
          <a:solidFill>
            <a:srgbClr val="1E1038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40112" y="4773168"/>
            <a:ext cx="1773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⑤ 结算与奖励</a:t>
            </a:r>
            <a:endParaRPr sz="115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硬件利润 + 手续费分成 + 对赌奖励</a:t>
            </a:r>
            <a:endParaRPr sz="92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5815584"/>
            <a:ext cx="11073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注：本轮公测配额与经销商名额均为阶段性政策，后续批次以官方公告为准。</a:t>
            </a:r>
            <a:endParaRPr sz="10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合规与运营安排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COMPLIANCE &amp; OPERATION · 主体分设三地，业务签约统一在中国香港完成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59536" y="212140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1396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中国香港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89888" y="254203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业务签约主体</a:t>
            </a:r>
            <a:endParaRPr sz="11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2962656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所有正式合作签约统一在此完成，符合合规要求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36008" y="212140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66360" y="21396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深圳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6360" y="254203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技术研发中心</a:t>
            </a:r>
            <a:endParaRPr sz="11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6008" y="2962656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硬件与系统研发团队所在地，负责产品迭代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19871" y="1828800"/>
            <a:ext cx="3529584" cy="1883664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412480" y="212140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42832" y="213969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美国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42832" y="2542032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海外业务办事处</a:t>
            </a:r>
            <a:endParaRPr sz="11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12480" y="2962656"/>
            <a:ext cx="29809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承接海外市场与生态合作对接</a:t>
            </a:r>
            <a:endParaRPr sz="108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3931920"/>
            <a:ext cx="5376672" cy="21945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415137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主体与合规设置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当前在中国香港、深圳、美国设有三处办事处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技术研发团队位于深圳，负责硬件与系统开发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业务正式签约统一在中国香港完成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63640" y="3931920"/>
            <a:ext cx="5376672" cy="2194560"/>
          </a:xfrm>
          <a:prstGeom prst="roundRect">
            <a:avLst>
              <a:gd name="adj" fmla="val 8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65392" y="415137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市场运营策略</a:t>
            </a:r>
            <a:endParaRPr sz="1400" b="1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65392" y="4590288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国内不公开提及代币相关内容，仅小范围开展业务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优先筛选有社区资源、Web3 行业经验的合作方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1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以小额、可控、可退出的方式推进首批合作</a:t>
            </a:r>
            <a:endParaRPr sz="11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落地路线与时间表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ROADMAP · 从公测配额到生态分成，四个阶段的推进节奏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34440" y="2157984"/>
            <a:ext cx="9966960" cy="18288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938528" y="2054656"/>
            <a:ext cx="224028" cy="224028"/>
          </a:xfrm>
          <a:prstGeom prst="ellipse">
            <a:avLst/>
          </a:prstGeom>
          <a:solidFill>
            <a:srgbClr val="A855F7"/>
          </a:solidFill>
          <a:ln w="19050">
            <a:solidFill>
              <a:srgbClr val="150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578608"/>
            <a:ext cx="2788920" cy="2834640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66928" y="2578608"/>
            <a:ext cx="2788920" cy="6858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4672" y="279806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阶段一</a:t>
            </a:r>
            <a:endParaRPr sz="115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" y="3108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产品上市初期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2" y="3602736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开放 1,000 台公测用户份额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仅面向签约经销商定向分配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完成首批开户与钱包激活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27448" y="2054656"/>
            <a:ext cx="224028" cy="224028"/>
          </a:xfrm>
          <a:prstGeom prst="ellipse">
            <a:avLst/>
          </a:prstGeom>
          <a:solidFill>
            <a:srgbClr val="35DDF0"/>
          </a:solidFill>
          <a:ln w="19050">
            <a:solidFill>
              <a:srgbClr val="150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02152" y="2578608"/>
            <a:ext cx="2788920" cy="2834640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502152" y="2578608"/>
            <a:ext cx="2788920" cy="68580"/>
          </a:xfrm>
          <a:prstGeom prst="roundRect">
            <a:avLst>
              <a:gd name="adj" fmla="val 50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39896" y="279806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阶段二</a:t>
            </a:r>
            <a:endParaRPr sz="1150" b="1" i="0">
              <a:solidFill>
                <a:srgbClr val="35DD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39896" y="3108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明年年初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39896" y="3602736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开户盒子升级 2.0 版本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新增支持影视公链挖矿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盒子对合作方的价值进一步提升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516367" y="2054656"/>
            <a:ext cx="224028" cy="224028"/>
          </a:xfrm>
          <a:prstGeom prst="ellipse">
            <a:avLst/>
          </a:prstGeom>
          <a:solidFill>
            <a:srgbClr val="F5C14E"/>
          </a:solidFill>
          <a:ln w="19050">
            <a:solidFill>
              <a:srgbClr val="150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7376" y="2578608"/>
            <a:ext cx="2788920" cy="2834640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37376" y="2578608"/>
            <a:ext cx="2788920" cy="68580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75120" y="279806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阶段三</a:t>
            </a:r>
            <a:endParaRPr sz="1150" b="1" i="0">
              <a:solidFill>
                <a:srgbClr val="F5C1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3108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生态业务上线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75120" y="3602736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合规 VISA / Master 卡上线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贸易担保、汇兑、DeFi 等业务落地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手续费 50% 全额分给合作商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305288" y="2054656"/>
            <a:ext cx="224028" cy="224028"/>
          </a:xfrm>
          <a:prstGeom prst="ellipse">
            <a:avLst/>
          </a:prstGeom>
          <a:solidFill>
            <a:srgbClr val="3DD68C"/>
          </a:solidFill>
          <a:ln w="19050">
            <a:solidFill>
              <a:srgbClr val="150A2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72600" y="2578608"/>
            <a:ext cx="2788920" cy="2834640"/>
          </a:xfrm>
          <a:prstGeom prst="roundRect">
            <a:avLst>
              <a:gd name="adj" fmla="val 9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372600" y="2578608"/>
            <a:ext cx="2788920" cy="68580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10344" y="279806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阶段四</a:t>
            </a:r>
            <a:endParaRPr sz="1150" b="1" i="0">
              <a:solidFill>
                <a:srgbClr val="3DD6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10344" y="3108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 年以上长期周期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10344" y="3602736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对接交易所提升流动性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以用户共识拉动长期价值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3DD68C"/>
                </a:solidFill>
                <a:latin typeface="微软雅黑" panose="020B0503020204020204" charset="-122"/>
                <a:ea typeface="微软雅黑" panose="020B0503020204020204" charset="-122"/>
              </a:rPr>
              <a:t>·  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持续扩充代币使用场景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5705856"/>
            <a:ext cx="110733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3B4FF"/>
                </a:solidFill>
                <a:latin typeface="微软雅黑" panose="020B0503020204020204" charset="-122"/>
                <a:ea typeface="微软雅黑" panose="020B0503020204020204" charset="-122"/>
              </a:rPr>
              <a:t>节奏原则：先跑通公测与渠道，再上生态业务，最后做流动性 —— 每一步都以合规与现金流为前提。</a:t>
            </a:r>
            <a:endParaRPr sz="1050" b="0" i="0">
              <a:solidFill>
                <a:srgbClr val="D3B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616">
                  <a:alpha val="100000"/>
                </a:srgbClr>
              </a:gs>
              <a:gs pos="55000">
                <a:srgbClr val="150A2A">
                  <a:alpha val="100000"/>
                </a:srgbClr>
              </a:gs>
              <a:gs pos="100000">
                <a:srgbClr val="1C0B38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7C3AED">
              <a:alpha val="16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8229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855F7">
                  <a:alpha val="100000"/>
                </a:srgbClr>
              </a:gs>
              <a:gs pos="100000">
                <a:srgbClr val="22D3EE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566928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下一步行动清单</a:t>
            </a:r>
            <a:endParaRPr sz="2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088136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NEXT STEPS · 三个待确认事项，直接决定首批合作能否快速落地</a:t>
            </a:r>
            <a:endParaRPr sz="115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11073384" cy="12801"/>
          </a:xfrm>
          <a:prstGeom prst="rect">
            <a:avLst/>
          </a:prstGeom>
          <a:solidFill>
            <a:srgbClr val="3324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3825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CNDT Web3 硬件钱包生态 · 内部沟通材料 · 2026.09.18</a:t>
            </a:r>
            <a:endParaRPr sz="9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3327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10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1865376"/>
            <a:ext cx="11073384" cy="1078992"/>
          </a:xfrm>
          <a:prstGeom prst="roundRect">
            <a:avLst>
              <a:gd name="adj" fmla="val 10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66928" y="1865376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87552" y="2139696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855F7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400" b="1" i="0">
              <a:solidFill>
                <a:srgbClr val="A855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74519" y="210312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确认首批经销商名单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48716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筛选具备社区资源与 Web3 行业经验的合作方，锁定 50 个名额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3072384"/>
            <a:ext cx="11073384" cy="1078992"/>
          </a:xfrm>
          <a:prstGeom prst="roundRect">
            <a:avLst>
              <a:gd name="adj" fmla="val 10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66928" y="3072384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35DD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7552" y="3346704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5DDF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400" b="1" i="0">
              <a:solidFill>
                <a:srgbClr val="35DD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310128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明确代币激励细则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4519" y="369417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公测空投比例、质押入口与收益结算口径需形成书面文件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4279392"/>
            <a:ext cx="11073384" cy="1078992"/>
          </a:xfrm>
          <a:prstGeom prst="roundRect">
            <a:avLst>
              <a:gd name="adj" fmla="val 10000"/>
            </a:avLst>
          </a:prstGeom>
          <a:solidFill>
            <a:srgbClr val="160A2A"/>
          </a:solidFill>
          <a:ln w="9525">
            <a:solidFill>
              <a:srgbClr val="3A2A6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66928" y="4279392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F5C14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87552" y="4553712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400" b="1" i="0">
              <a:solidFill>
                <a:srgbClr val="F5C1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74519" y="4517136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落地签约与渠道培训</a:t>
            </a:r>
            <a:endParaRPr sz="15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74519" y="4901184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3B8"/>
                </a:solidFill>
                <a:latin typeface="微软雅黑" panose="020B0503020204020204" charset="-122"/>
                <a:ea typeface="微软雅黑" panose="020B0503020204020204" charset="-122"/>
              </a:rPr>
              <a:t>在中国香港完成签约，配套开户盒子使用与开户流程培训</a:t>
            </a:r>
            <a:endParaRPr sz="1100" b="0" i="0">
              <a:solidFill>
                <a:srgbClr val="9A9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5504688"/>
            <a:ext cx="11073384" cy="621792"/>
          </a:xfrm>
          <a:prstGeom prst="roundRect">
            <a:avLst>
              <a:gd name="adj" fmla="val 16000"/>
            </a:avLst>
          </a:prstGeom>
          <a:solidFill>
            <a:srgbClr val="110722"/>
          </a:solidFill>
          <a:ln w="9525">
            <a:solidFill>
              <a:srgbClr val="2A1D4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66013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5C14E"/>
                </a:solidFill>
                <a:latin typeface="微软雅黑" panose="020B0503020204020204" charset="-122"/>
                <a:ea typeface="微软雅黑" panose="020B0503020204020204" charset="-122"/>
              </a:rPr>
              <a:t>风险提示：</a:t>
            </a:r>
            <a:r>
              <a:rPr sz="1050" b="0" i="0">
                <a:solidFill>
                  <a:srgbClr val="E6E1F2"/>
                </a:solidFill>
                <a:latin typeface="微软雅黑" panose="020B0503020204020204" charset="-122"/>
                <a:ea typeface="微软雅黑" panose="020B0503020204020204" charset="-122"/>
              </a:rPr>
              <a:t>本材料为内部沟通与方案讨论用途，涉及价格、配额、代币激励等内容均以正式签约文件与官方公告为准，数字资产相关业务存在价格波动与合规风险，请合作方独立判断并审慎决策。</a:t>
            </a:r>
            <a:endParaRPr sz="1050" b="0" i="0">
              <a:solidFill>
                <a:srgbClr val="E6E1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5411</Words>
  <Application>WPS 演示</Application>
  <PresentationFormat>On-screen Show (4:3)</PresentationFormat>
  <Paragraphs>620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ZJW</cp:lastModifiedBy>
  <cp:revision>2</cp:revision>
  <dcterms:created xsi:type="dcterms:W3CDTF">2013-01-27T09:14:00Z</dcterms:created>
  <dcterms:modified xsi:type="dcterms:W3CDTF">2026-09-18T10:09:58Z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BB0EE33489AE49BB81791357577D6924_13</vt:lpwstr>
  </property>
  <property fmtid="{D5CDD505-2E9C-101B-9397-08002B2CF9AE}" pid="3" name="KSOProductBuildVer">
    <vt:lpwstr>2052-12.1.0.28599</vt:lpwstr>
  </property>
</Properties>
</file>